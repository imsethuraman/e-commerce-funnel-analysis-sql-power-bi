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75" r:id="rId4"/>
    <p:sldId id="276" r:id="rId5"/>
    <p:sldId id="259" r:id="rId6"/>
    <p:sldId id="258" r:id="rId7"/>
    <p:sldId id="273" r:id="rId8"/>
    <p:sldId id="272" r:id="rId9"/>
    <p:sldId id="260" r:id="rId10"/>
    <p:sldId id="261" r:id="rId11"/>
    <p:sldId id="262" r:id="rId12"/>
    <p:sldId id="263" r:id="rId13"/>
    <p:sldId id="264" r:id="rId14"/>
    <p:sldId id="265" r:id="rId15"/>
    <p:sldId id="267" r:id="rId16"/>
    <p:sldId id="268" r:id="rId17"/>
    <p:sldId id="269" r:id="rId18"/>
    <p:sldId id="270" r:id="rId19"/>
    <p:sldId id="271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GB"/>
              <a:t>Users by Funnel Stage (in thousands)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Browse</c:v>
                </c:pt>
                <c:pt idx="1">
                  <c:v>Add to Cart</c:v>
                </c:pt>
                <c:pt idx="2">
                  <c:v>Checkout</c:v>
                </c:pt>
                <c:pt idx="3">
                  <c:v>Purchase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6.9</c:v>
                </c:pt>
                <c:pt idx="2">
                  <c:v>3.5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D5-4FAA-B7C7-51332D1D58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/>
              <a:t>Conversion % by Stage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Browse → Cart</c:v>
                </c:pt>
                <c:pt idx="1">
                  <c:v>Cart → Checkout</c:v>
                </c:pt>
                <c:pt idx="2">
                  <c:v>Checkout → Purchase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</c:v>
                </c:pt>
                <c:pt idx="1">
                  <c:v>50.7</c:v>
                </c:pt>
                <c:pt idx="2">
                  <c:v>28.6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E5-438C-B82E-015AA8057B2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/>
              <a:t>Drop-off by Stage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Browse → Cart</c:v>
                </c:pt>
                <c:pt idx="1">
                  <c:v>Cart → Checkout</c:v>
                </c:pt>
                <c:pt idx="2">
                  <c:v>Checkout → Purchase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3.1</c:v>
                </c:pt>
                <c:pt idx="1">
                  <c:v>3.4</c:v>
                </c:pt>
                <c:pt idx="2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76-4E30-AFC7-4F2E856C5BE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/>
              <a:t>Revenue by Channel (K)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Google Ads</c:v>
                </c:pt>
                <c:pt idx="1">
                  <c:v>Email</c:v>
                </c:pt>
                <c:pt idx="2">
                  <c:v>Social Media</c:v>
                </c:pt>
                <c:pt idx="3">
                  <c:v>Organic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</c:v>
                </c:pt>
                <c:pt idx="1">
                  <c:v>69</c:v>
                </c:pt>
                <c:pt idx="2">
                  <c:v>68</c:v>
                </c:pt>
                <c:pt idx="3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AA-4373-B487-65421B8A9BA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/>
              <a:t>Revenue by Device (K)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Desktop</c:v>
                </c:pt>
                <c:pt idx="1">
                  <c:v>Mobile</c:v>
                </c:pt>
                <c:pt idx="2">
                  <c:v>Tablet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98.5</c:v>
                </c:pt>
                <c:pt idx="1">
                  <c:v>94.6</c:v>
                </c:pt>
                <c:pt idx="2">
                  <c:v>84.2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E1-473A-B451-C0848C43E66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GB"/>
              <a:t>Avg Time (min) by Segment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Fast ⚡</c:v>
                </c:pt>
                <c:pt idx="1">
                  <c:v>Medium 🟡</c:v>
                </c:pt>
                <c:pt idx="2">
                  <c:v>Slow 🐢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10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27-4EBA-B0DC-C52FBEF7B3A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13E1EA-DCFD-45B8-9476-B99C609A1370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AC0425-E00B-46FF-9B2B-AA77C72DBB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8381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AC0425-E00B-46FF-9B2B-AA77C72DBBEA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135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E‑Commerce Funnel Performance &amp; Revenue Insights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SQL +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traffic (10K users) but low conversion (~10%) indicates funnel inefficiency</a:t>
            </a:r>
          </a:p>
          <a:p>
            <a:r>
              <a:t>Largest leakage at Checkout → Purchase stage (payment/trust friction)</a:t>
            </a:r>
          </a:p>
          <a:p>
            <a:r>
              <a:t>Fast converters drive disproportionate share of revenue</a:t>
            </a:r>
          </a:p>
          <a:p>
            <a:r>
              <a:t>Opportunity: optimize checkout UX and retarget high-intent users to unlock revenue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Analyze user funnel behavior</a:t>
            </a:r>
          </a:p>
          <a:p>
            <a:r>
              <a:rPr dirty="0"/>
              <a:t>Identify drop-offs</a:t>
            </a:r>
          </a:p>
          <a:p>
            <a:r>
              <a:rPr dirty="0"/>
              <a:t>Understand revenue drivers</a:t>
            </a:r>
          </a:p>
          <a:p>
            <a:r>
              <a:rPr dirty="0"/>
              <a:t>Segment users for targeted strategy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Data Cleaning &amp; Validation</a:t>
            </a:r>
          </a:p>
          <a:p>
            <a:r>
              <a:rPr dirty="0"/>
              <a:t>2. Funnel Analysis</a:t>
            </a:r>
          </a:p>
          <a:p>
            <a:r>
              <a:rPr dirty="0"/>
              <a:t>3. Conversion Analysis</a:t>
            </a:r>
          </a:p>
          <a:p>
            <a:r>
              <a:rPr dirty="0"/>
              <a:t>4. Revenue Analysis</a:t>
            </a:r>
          </a:p>
          <a:p>
            <a:r>
              <a:rPr dirty="0"/>
              <a:t>5. Segmentation</a:t>
            </a:r>
          </a:p>
          <a:p>
            <a:r>
              <a:rPr dirty="0"/>
              <a:t>6.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Event-level dataset: Browse → Add to Cart → Checkout → Purchase</a:t>
            </a:r>
          </a:p>
          <a:p>
            <a:r>
              <a:t>Dimensions: Channel, Device, Region, Category; Metric: Revenue</a:t>
            </a:r>
          </a:p>
          <a:p>
            <a:r>
              <a:t>Pipeline: Data Quality → Funnel → Conversion → Revenue → Segmentation</a:t>
            </a:r>
          </a:p>
          <a:p>
            <a:r>
              <a:t>Model: Event table + User-level table (time-to-purchase, segments)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6BC6AF-CEE4-4D22-8F02-39662FA14C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" t="19072" r="27010" b="6334"/>
          <a:stretch/>
        </p:blipFill>
        <p:spPr>
          <a:xfrm>
            <a:off x="254524" y="1417638"/>
            <a:ext cx="8691513" cy="42572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7398B1-0C9F-4C26-AAF9-5B6A427C62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" t="19988" r="27217" b="6701"/>
          <a:stretch/>
        </p:blipFill>
        <p:spPr>
          <a:xfrm>
            <a:off x="457200" y="1310326"/>
            <a:ext cx="8229600" cy="450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881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Performance Indicators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83703"/>
            <a:ext cx="1180235" cy="1036948"/>
          </a:xfrm>
          <a:prstGeom prst="roundRect">
            <a:avLst/>
          </a:prstGeom>
          <a:solidFill>
            <a:srgbClr val="F0F5FF"/>
          </a:solidFill>
          <a:ln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10,000</a:t>
            </a:r>
          </a:p>
          <a:p>
            <a:pPr algn="ctr">
              <a:defRPr sz="1200"/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Total Users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76046" y="1583703"/>
            <a:ext cx="1298259" cy="1036948"/>
          </a:xfrm>
          <a:prstGeom prst="roundRect">
            <a:avLst/>
          </a:prstGeom>
          <a:solidFill>
            <a:srgbClr val="F0F5FF"/>
          </a:solidFill>
          <a:ln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277.32K</a:t>
            </a:r>
          </a:p>
          <a:p>
            <a:pPr algn="ctr">
              <a:defRPr sz="1200"/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Total Revenue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30941" y="1583703"/>
            <a:ext cx="1298259" cy="1036948"/>
          </a:xfrm>
          <a:prstGeom prst="roundRect">
            <a:avLst/>
          </a:prstGeom>
          <a:solidFill>
            <a:srgbClr val="F0F5FF"/>
          </a:solidFill>
          <a:ln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1,004</a:t>
            </a:r>
          </a:p>
          <a:p>
            <a:pPr algn="ctr">
              <a:defRPr sz="1200"/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Total Transactions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5836" y="1602557"/>
            <a:ext cx="1298259" cy="1036948"/>
          </a:xfrm>
          <a:prstGeom prst="roundRect">
            <a:avLst/>
          </a:prstGeom>
          <a:solidFill>
            <a:srgbClr val="F0F5FF"/>
          </a:solidFill>
          <a:ln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10.40 min</a:t>
            </a:r>
          </a:p>
          <a:p>
            <a:pPr algn="ctr">
              <a:defRPr sz="1200"/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Avg Time to Purchase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40731" y="1621411"/>
            <a:ext cx="1298259" cy="1036948"/>
          </a:xfrm>
          <a:prstGeom prst="roundRect">
            <a:avLst/>
          </a:prstGeom>
          <a:solidFill>
            <a:srgbClr val="F0F5FF"/>
          </a:solidFill>
          <a:ln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rPr>
                <a:solidFill>
                  <a:schemeClr val="accent1">
                    <a:lumMod val="75000"/>
                  </a:schemeClr>
                </a:solidFill>
              </a:rPr>
              <a:t>10.04%</a:t>
            </a:r>
          </a:p>
          <a:p>
            <a:pPr algn="ctr">
              <a:defRPr sz="1200"/>
            </a:pPr>
            <a:r>
              <a:rPr>
                <a:solidFill>
                  <a:schemeClr val="accent1">
                    <a:lumMod val="75000"/>
                  </a:schemeClr>
                </a:solidFill>
              </a:rPr>
              <a:t>Conversion Rate</a:t>
            </a:r>
          </a:p>
        </p:txBody>
      </p:sp>
    </p:spTree>
    <p:extLst>
      <p:ext uri="{BB962C8B-B14F-4D97-AF65-F5344CB8AC3E}">
        <p14:creationId xmlns:p14="http://schemas.microsoft.com/office/powerpoint/2010/main" val="2162264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User Conversion Funnel (Stage-wise Drop-off)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8574510"/>
              </p:ext>
            </p:extLst>
          </p:nvPr>
        </p:nvGraphicFramePr>
        <p:xfrm>
          <a:off x="4572000" y="1941921"/>
          <a:ext cx="4223207" cy="34385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0AA7A935-B385-423A-97F8-7265AF543BC4}"/>
              </a:ext>
            </a:extLst>
          </p:cNvPr>
          <p:cNvSpPr/>
          <p:nvPr/>
        </p:nvSpPr>
        <p:spPr>
          <a:xfrm>
            <a:off x="551468" y="2180757"/>
            <a:ext cx="319097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Browse → Add to Cart → Checkout → Purchase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Major drop-offs observed at checkout stage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Low final conversion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Stage-wise Conversion Rates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86815"/>
              </p:ext>
            </p:extLst>
          </p:nvPr>
        </p:nvGraphicFramePr>
        <p:xfrm>
          <a:off x="4835952" y="1600200"/>
          <a:ext cx="3850848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3C7EFAE-F55A-4E0E-A96E-9D6CA4EDDC6D}"/>
              </a:ext>
            </a:extLst>
          </p:cNvPr>
          <p:cNvSpPr/>
          <p:nvPr/>
        </p:nvSpPr>
        <p:spPr>
          <a:xfrm>
            <a:off x="542041" y="2044005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Browse → Cart moderate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Cart → Checkout stable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Checkout → Purchase lowest → key issue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User Drop-off Across Funnel Stages (in thousands)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433834"/>
              </p:ext>
            </p:extLst>
          </p:nvPr>
        </p:nvGraphicFramePr>
        <p:xfrm>
          <a:off x="829559" y="1545996"/>
          <a:ext cx="7857241" cy="34832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Contribution by Channel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70432"/>
              </p:ext>
            </p:extLst>
          </p:nvPr>
        </p:nvGraphicFramePr>
        <p:xfrm>
          <a:off x="980388" y="1371600"/>
          <a:ext cx="770641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Share by Device Type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404631"/>
              </p:ext>
            </p:extLst>
          </p:nvPr>
        </p:nvGraphicFramePr>
        <p:xfrm>
          <a:off x="1036948" y="1371600"/>
          <a:ext cx="764985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Customer Segmentation (Conversion Speed)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037937"/>
              </p:ext>
            </p:extLst>
          </p:nvPr>
        </p:nvGraphicFramePr>
        <p:xfrm>
          <a:off x="4656840" y="1489434"/>
          <a:ext cx="4029959" cy="35397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0DF3AEA-E525-46F0-989C-66EDD303B6BC}"/>
              </a:ext>
            </a:extLst>
          </p:cNvPr>
          <p:cNvSpPr/>
          <p:nvPr/>
        </p:nvSpPr>
        <p:spPr>
          <a:xfrm>
            <a:off x="457200" y="1804935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Fast converters → high revenue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Slow users → opportunity for retargeting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Checkout → Purchase conversion is the weakest stage (~28–30%)</a:t>
            </a:r>
          </a:p>
          <a:p>
            <a:r>
              <a:rPr dirty="0"/>
              <a:t>Browse → Cart shows moderate engagement (~65–70%)</a:t>
            </a:r>
          </a:p>
          <a:p>
            <a:r>
              <a:rPr dirty="0"/>
              <a:t>Revenue concentrated in a few channels; efficiency varies</a:t>
            </a:r>
            <a:endParaRPr lang="en-IN" dirty="0"/>
          </a:p>
          <a:p>
            <a:r>
              <a:rPr lang="en-GB" dirty="0"/>
              <a:t>Revenue concentrated in specific channels</a:t>
            </a:r>
          </a:p>
          <a:p>
            <a:r>
              <a:rPr lang="en-GB" dirty="0"/>
              <a:t>High-value users drive majority of revenue</a:t>
            </a:r>
          </a:p>
          <a:p>
            <a:r>
              <a:rPr dirty="0"/>
              <a:t>Fast converters (low time) correlate with higher revenue contribution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Optimize checkout UX: simplify steps, enable guest checkout, reduce latency</a:t>
            </a:r>
          </a:p>
          <a:p>
            <a:r>
              <a:t>Increase trust: payment badges, clear returns, price transparency</a:t>
            </a:r>
          </a:p>
          <a:p>
            <a:r>
              <a:t>Retarget high-intent users (cart/checkout abandoners) with offers</a:t>
            </a:r>
          </a:p>
          <a:p>
            <a:r>
              <a:t>Reallocate spend to high-ROI channels; test creatives for low performers</a:t>
            </a:r>
          </a:p>
          <a:p>
            <a:r>
              <a:t>Personalize journeys: fast users → upsell; slow users → nudges/discounts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+2–5% absolute lift in conversion rate</a:t>
            </a:r>
          </a:p>
          <a:p>
            <a:r>
              <a:t>+10–20% increase in transactions</a:t>
            </a:r>
          </a:p>
          <a:p>
            <a:r>
              <a:t>+15–25% uplift in revenue with better channel allocation</a:t>
            </a:r>
          </a:p>
          <a:p>
            <a:r>
              <a:t>Reduced drop-offs at checkout and faster conversion cycles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Demonstrated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SQL: CTEs, aggregations, funnel &amp; segmentation logic</a:t>
            </a:r>
          </a:p>
          <a:p>
            <a:r>
              <a:t>Power BI: data modeling, DAX, KPI design, storytelling dashboards</a:t>
            </a:r>
          </a:p>
          <a:p>
            <a:r>
              <a:t>Analytics: funnel diagnostics, cohort thinking, KPI interpretation</a:t>
            </a:r>
          </a:p>
          <a:p>
            <a:r>
              <a:t>Consulting: problem framing, insight generation, actionable recommendations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analysis links user behavior to revenue outcomes</a:t>
            </a:r>
          </a:p>
          <a:p>
            <a:r>
              <a:t>Clear, actionable roadmap to improve conversion and profitability</a:t>
            </a:r>
          </a:p>
          <a:p>
            <a:r>
              <a:t>Ready to apply this approach to real business problems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511</Words>
  <Application>Microsoft Office PowerPoint</Application>
  <PresentationFormat>On-screen Show (4:3)</PresentationFormat>
  <Paragraphs>85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E‑Commerce Funnel Performance &amp; Revenue Insights</vt:lpstr>
      <vt:lpstr>Executive Summary</vt:lpstr>
      <vt:lpstr>Business Objective</vt:lpstr>
      <vt:lpstr>Approach</vt:lpstr>
      <vt:lpstr>Data &amp; Approach</vt:lpstr>
      <vt:lpstr>Dashboard</vt:lpstr>
      <vt:lpstr>Dashboard</vt:lpstr>
      <vt:lpstr>Key Performance Indicators</vt:lpstr>
      <vt:lpstr>User Conversion Funnel (Stage-wise Drop-off)</vt:lpstr>
      <vt:lpstr>Stage-wise Conversion Rates</vt:lpstr>
      <vt:lpstr>User Drop-off Across Funnel Stages (in thousands)</vt:lpstr>
      <vt:lpstr>Revenue Contribution by Channel</vt:lpstr>
      <vt:lpstr>Revenue Share by Device Type</vt:lpstr>
      <vt:lpstr>Customer Segmentation (Conversion Speed)</vt:lpstr>
      <vt:lpstr>Key Findings</vt:lpstr>
      <vt:lpstr>Recommendations</vt:lpstr>
      <vt:lpstr>Expected Impact</vt:lpstr>
      <vt:lpstr>Skills Demonstrated</vt:lpstr>
      <vt:lpstr>Closing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E‑Commerce Funnel Performance &amp; Revenue Insights</dc:title>
  <dc:subject/>
  <dc:creator/>
  <cp:keywords/>
  <dc:description>generated using python-pptx</dc:description>
  <cp:lastModifiedBy>Sethuraman B</cp:lastModifiedBy>
  <cp:revision>6</cp:revision>
  <dcterms:created xsi:type="dcterms:W3CDTF">2013-01-27T09:14:16Z</dcterms:created>
  <dcterms:modified xsi:type="dcterms:W3CDTF">2026-04-18T14:00:35Z</dcterms:modified>
  <cp:category/>
</cp:coreProperties>
</file>